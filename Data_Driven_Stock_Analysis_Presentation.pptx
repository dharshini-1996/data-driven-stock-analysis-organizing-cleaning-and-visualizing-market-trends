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3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72" r:id="rId9"/>
    <p:sldId id="273" r:id="rId10"/>
    <p:sldId id="274" r:id="rId11"/>
    <p:sldId id="275" r:id="rId12"/>
    <p:sldId id="276" r:id="rId13"/>
    <p:sldId id="284" r:id="rId14"/>
    <p:sldId id="277" r:id="rId15"/>
    <p:sldId id="278" r:id="rId16"/>
    <p:sldId id="279" r:id="rId17"/>
    <p:sldId id="280" r:id="rId18"/>
    <p:sldId id="281" r:id="rId19"/>
    <p:sldId id="282" r:id="rId20"/>
    <p:sldId id="265" r:id="rId21"/>
    <p:sldId id="283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03405"/>
            <a:ext cx="73152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32201"/>
            <a:ext cx="73152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0" y="4323845"/>
            <a:ext cx="229742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4400" y="4323846"/>
            <a:ext cx="488061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430867"/>
            <a:ext cx="21717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2336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300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4"/>
            <a:ext cx="7955280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3641726"/>
            <a:ext cx="7955281" cy="1354134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066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360" y="2194560"/>
            <a:ext cx="3910579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2099" y="2194560"/>
            <a:ext cx="3907540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940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2000"/>
            <a:ext cx="637794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279" y="2183802"/>
            <a:ext cx="3683659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59" y="3132667"/>
            <a:ext cx="3910579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9018" y="2183802"/>
            <a:ext cx="368062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098" y="3132667"/>
            <a:ext cx="3907541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282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140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037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30861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746760"/>
            <a:ext cx="4663440" cy="551688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308610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191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407573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77524" y="751242"/>
            <a:ext cx="3674234" cy="551239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407573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236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55" y="4697361"/>
            <a:ext cx="7956482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4355" y="977035"/>
            <a:ext cx="7950260" cy="340697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5516716"/>
            <a:ext cx="7955280" cy="746924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047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3"/>
            <a:ext cx="795528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649134"/>
            <a:ext cx="7772400" cy="1330852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9576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753534"/>
            <a:ext cx="7613650" cy="2756234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3509768"/>
            <a:ext cx="7194552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74597"/>
            <a:ext cx="7778752" cy="821265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9438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31458" y="80772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6733" y="302133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391508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124702"/>
            <a:ext cx="7774782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92" y="3648316"/>
            <a:ext cx="7773608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78884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8884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0733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1" y="762000"/>
            <a:ext cx="637793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94361" y="2202080"/>
            <a:ext cx="2560320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9436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02237" y="2201333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00781" y="2904068"/>
            <a:ext cx="2560320" cy="335957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9319" y="2192866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932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3940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2" y="762000"/>
            <a:ext cx="6381984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94360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94360" y="2331720"/>
            <a:ext cx="2560320" cy="15073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94360" y="4796103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91873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91872" y="2331720"/>
            <a:ext cx="2560320" cy="1509862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90858" y="4796102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93365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93364" y="2331721"/>
            <a:ext cx="2560320" cy="1508919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93272" y="4796100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5627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2194560"/>
            <a:ext cx="7955280" cy="40690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069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6590" y="747183"/>
            <a:ext cx="1543050" cy="424867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746126"/>
            <a:ext cx="6278035" cy="424973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110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810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2194560"/>
            <a:ext cx="7955280" cy="4069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12230" y="6356351"/>
            <a:ext cx="2137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4360" y="6355846"/>
            <a:ext cx="56807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381001"/>
            <a:ext cx="19773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25952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  <p:sldLayoutId id="2147483726" r:id="rId13"/>
    <p:sldLayoutId id="2147483727" r:id="rId14"/>
    <p:sldLayoutId id="2147483728" r:id="rId15"/>
    <p:sldLayoutId id="2147483729" r:id="rId16"/>
    <p:sldLayoutId id="2147483730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Data-Driven Stock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Organizing, Cleaning, and Visualizing Market Trends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CC1A38-C90B-666A-C296-CB899406B4B2}"/>
              </a:ext>
            </a:extLst>
          </p:cNvPr>
          <p:cNvSpPr txBox="1"/>
          <p:nvPr/>
        </p:nvSpPr>
        <p:spPr>
          <a:xfrm>
            <a:off x="2389238" y="4975122"/>
            <a:ext cx="163057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Presented By</a:t>
            </a:r>
          </a:p>
          <a:p>
            <a:endParaRPr lang="en-US" dirty="0"/>
          </a:p>
          <a:p>
            <a:r>
              <a:rPr lang="en-US" dirty="0"/>
              <a:t>Dharshini A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Skills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/>
          </a:p>
          <a:p>
            <a:pPr>
              <a:defRPr sz="2000"/>
            </a:pPr>
            <a:r>
              <a:t>Pandas</a:t>
            </a:r>
          </a:p>
          <a:p>
            <a:pPr>
              <a:defRPr sz="2000"/>
            </a:pPr>
            <a:r>
              <a:t>Python</a:t>
            </a:r>
          </a:p>
          <a:p>
            <a:pPr>
              <a:defRPr sz="2000"/>
            </a:pPr>
            <a:r>
              <a:t>Power BI</a:t>
            </a:r>
          </a:p>
          <a:p>
            <a:pPr>
              <a:defRPr sz="2000"/>
            </a:pPr>
            <a:r>
              <a:t>Streamlit</a:t>
            </a:r>
          </a:p>
          <a:p>
            <a:pPr>
              <a:defRPr sz="2000"/>
            </a:pPr>
            <a:r>
              <a:t>SQL</a:t>
            </a:r>
          </a:p>
          <a:p>
            <a:pPr>
              <a:defRPr sz="2000"/>
            </a:pPr>
            <a:r>
              <a:t>Statistics</a:t>
            </a:r>
          </a:p>
          <a:p>
            <a:pPr>
              <a:defRPr sz="2000"/>
            </a:pPr>
            <a:r>
              <a:t>Data Organizing</a:t>
            </a:r>
          </a:p>
          <a:p>
            <a:pPr>
              <a:defRPr sz="2000"/>
            </a:pPr>
            <a:r>
              <a:t>Cleaning</a:t>
            </a:r>
          </a:p>
          <a:p>
            <a:pPr>
              <a:defRPr sz="2000"/>
            </a:pPr>
            <a:r>
              <a:t>Visualizing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Analyze Nifty 50 stocks' performance over the past year</a:t>
            </a:r>
          </a:p>
          <a:p>
            <a:pPr>
              <a:defRPr sz="2000"/>
            </a:pPr>
            <a:r>
              <a:t>Clean and process daily stock data (open, close, high, low, volume)</a:t>
            </a:r>
          </a:p>
          <a:p>
            <a:pPr>
              <a:defRPr sz="2000"/>
            </a:pPr>
            <a:r>
              <a:t>Generate insights and visualize top-performing stocks</a:t>
            </a:r>
          </a:p>
          <a:p>
            <a:pPr>
              <a:defRPr sz="2000"/>
            </a:pPr>
            <a:r>
              <a:t>Interactive dashboards using Streamlit and Power BI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Stock Performance Ranking: Top 10 best/worst stocks</a:t>
            </a:r>
          </a:p>
          <a:p>
            <a:pPr>
              <a:defRPr sz="2000"/>
            </a:pPr>
            <a:r>
              <a:t>Market Overview: Average performance, green vs red ratio</a:t>
            </a:r>
          </a:p>
          <a:p>
            <a:pPr>
              <a:defRPr sz="2000"/>
            </a:pPr>
            <a:r>
              <a:t>Investment Insights: Consistent growth/decline trends</a:t>
            </a:r>
          </a:p>
          <a:p>
            <a:pPr>
              <a:defRPr sz="2000"/>
            </a:pPr>
            <a:r>
              <a:t>Decision Support: Volatility, average prices, behavior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/>
          </a:p>
          <a:p>
            <a:pPr>
              <a:defRPr sz="2000"/>
            </a:pPr>
            <a:r>
              <a:t>Daily Return = (Close - Previous Close) / Previous Close</a:t>
            </a:r>
          </a:p>
          <a:p>
            <a:pPr>
              <a:defRPr sz="2000"/>
            </a:pPr>
            <a:r>
              <a:t>Volatility = Std Dev of daily returns</a:t>
            </a:r>
          </a:p>
          <a:p>
            <a:pPr>
              <a:defRPr sz="2000"/>
            </a:pPr>
            <a:r>
              <a:t>Cumulative Return = Running total of daily returns</a:t>
            </a:r>
          </a:p>
          <a:p>
            <a:pPr>
              <a:defRPr sz="2000"/>
            </a:pPr>
            <a:r>
              <a:t>Sector-wise average yearly return</a:t>
            </a:r>
          </a:p>
          <a:p>
            <a:pPr>
              <a:defRPr sz="2000"/>
            </a:pPr>
            <a:r>
              <a:t>Correlation matrix of closing prices</a:t>
            </a:r>
          </a:p>
          <a:p>
            <a:pPr>
              <a:defRPr sz="2000"/>
            </a:pPr>
            <a:r>
              <a:t>Monthly top 5 gainers and losers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000"/>
            </a:pPr>
            <a:r>
              <a:rPr dirty="0"/>
              <a:t>Top 10 Most Volatile Stocks: Bar chart</a:t>
            </a:r>
          </a:p>
          <a:p>
            <a:pPr>
              <a:defRPr sz="2000"/>
            </a:pPr>
            <a:r>
              <a:rPr dirty="0"/>
              <a:t>Cumulative Return: Line chart for top 5 stocks</a:t>
            </a:r>
          </a:p>
          <a:p>
            <a:pPr>
              <a:defRPr sz="2000"/>
            </a:pPr>
            <a:r>
              <a:rPr dirty="0"/>
              <a:t>Sector-wise Performance: Bar chart</a:t>
            </a:r>
          </a:p>
          <a:p>
            <a:pPr>
              <a:defRPr sz="2000"/>
            </a:pPr>
            <a:r>
              <a:rPr dirty="0"/>
              <a:t>Stock Price Correlation: Heatmap</a:t>
            </a:r>
          </a:p>
          <a:p>
            <a:pPr>
              <a:defRPr sz="2000"/>
            </a:pPr>
            <a:r>
              <a:rPr dirty="0"/>
              <a:t>Monthly Gainers/Losers: 12 bar charts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8E0C9-9C97-8C98-BA38-76D061888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6E68E-BCC0-441D-6D73-5076AE993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5493" y="288925"/>
            <a:ext cx="6377940" cy="1293028"/>
          </a:xfrm>
        </p:spPr>
        <p:txBody>
          <a:bodyPr>
            <a:normAutofit/>
          </a:bodyPr>
          <a:lstStyle/>
          <a:p>
            <a:r>
              <a:rPr lang="en-US" sz="2800" dirty="0"/>
              <a:t>Top 10 Most Volatile Stocks</a:t>
            </a:r>
            <a:endParaRPr sz="28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BE83F69-E64D-E0C7-D918-251B1D3B30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82609" y="1581953"/>
            <a:ext cx="5778782" cy="4623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5857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2FAF7-CDE7-46E2-C6B6-D2144FF3F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04619-4BC5-4EB5-9AFC-6CAD92359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3042" y="117859"/>
            <a:ext cx="6377940" cy="1293028"/>
          </a:xfrm>
        </p:spPr>
        <p:txBody>
          <a:bodyPr>
            <a:normAutofit/>
          </a:bodyPr>
          <a:lstStyle/>
          <a:p>
            <a:r>
              <a:rPr lang="en-IN" sz="2800" dirty="0"/>
              <a:t>Cumulative Return</a:t>
            </a:r>
            <a:endParaRPr sz="2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20541F-877D-0062-343F-6B46B0E2D1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189" y="1806677"/>
            <a:ext cx="6857692" cy="4377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6307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21E35-E441-DF0C-C813-BFD079CB0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CBAFE-E071-899A-9304-DB8570C8E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8680" y="273169"/>
            <a:ext cx="6377940" cy="1293028"/>
          </a:xfrm>
        </p:spPr>
        <p:txBody>
          <a:bodyPr>
            <a:normAutofit/>
          </a:bodyPr>
          <a:lstStyle/>
          <a:p>
            <a:r>
              <a:rPr lang="en-IN" sz="2800" dirty="0"/>
              <a:t>Stock Price Correlation</a:t>
            </a:r>
            <a:endParaRPr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AEE428-F3B1-47BF-18B2-26B36E4115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155" y="1755554"/>
            <a:ext cx="5623995" cy="4614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196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F5885-C5E5-5361-E795-82434B503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34640-ADA1-C577-E907-29936F64D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7339" y="203934"/>
            <a:ext cx="6377940" cy="1293028"/>
          </a:xfrm>
        </p:spPr>
        <p:txBody>
          <a:bodyPr>
            <a:normAutofit/>
          </a:bodyPr>
          <a:lstStyle/>
          <a:p>
            <a:r>
              <a:rPr lang="en-IN" sz="2800" dirty="0"/>
              <a:t>Sector-wise Performance</a:t>
            </a:r>
            <a:endParaRPr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5BC1DA-C430-251F-BC4D-4DAD7C6A1E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066" y="1663053"/>
            <a:ext cx="7475868" cy="4549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6700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6A451-DEE3-EBA4-484F-44CE7FE53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F1E00-F052-B421-0872-3F91E99BF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654044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/>
              <a:t>T</a:t>
            </a:r>
            <a:r>
              <a:rPr lang="en-IN" sz="3600" b="1" dirty="0"/>
              <a:t>op 5 Gainers and Losers – Month-wise</a:t>
            </a:r>
            <a:endParaRPr sz="3600" b="1" dirty="0"/>
          </a:p>
        </p:txBody>
      </p:sp>
    </p:spTree>
    <p:extLst>
      <p:ext uri="{BB962C8B-B14F-4D97-AF65-F5344CB8AC3E}">
        <p14:creationId xmlns:p14="http://schemas.microsoft.com/office/powerpoint/2010/main" val="17405462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50097-28D6-0405-F163-AC07CAE2C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72F02E0-856C-B7D3-907F-56C7DA3C7E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40081" y="937340"/>
            <a:ext cx="6617111" cy="2521416"/>
          </a:xfr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0D2F0651-FCE3-7C2F-AE0A-62E9C10D20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0080" y="3732791"/>
            <a:ext cx="6617111" cy="2528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61579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CC228-DCD0-100A-246E-8AA55B510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E78FCB28-2410-46C9-7745-B24F131693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6179" y="916712"/>
            <a:ext cx="6548285" cy="2594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6EBE75AC-7340-B9F5-D651-6A849BBE92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6179" y="3871452"/>
            <a:ext cx="6548285" cy="2594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23825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3494D-97F0-8093-104E-8A3B694AD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BD30C238-5E69-D62E-E959-F54239A9B1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8872" y="938353"/>
            <a:ext cx="6766253" cy="2582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1E2FFA18-D059-3DDC-D082-739C1FA68B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8873" y="3812100"/>
            <a:ext cx="6766253" cy="2680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08820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670F1-FDDF-662E-A8A5-C72102C54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0276EB98-912B-D9DA-E571-B23B3BFDB1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1640" y="973726"/>
            <a:ext cx="6420719" cy="2543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4B80B7B7-9522-F083-C9B1-E1CF23D10E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2143" y="3861384"/>
            <a:ext cx="6420719" cy="2543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43288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EA0B5-A3C1-9199-2604-35DA3BE8D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8CB8B851-211D-2A5B-282B-C479E7BFE6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7690" y="1005293"/>
            <a:ext cx="6528619" cy="2586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DAA80F06-DA0F-917D-0B50-DC720CFAAC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7690" y="3888916"/>
            <a:ext cx="6528619" cy="2586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47278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AC52F-BF36-B3BD-E3E6-A6C4121DA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BA30FBBC-D075-C655-78E4-5C7EAD2C89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4670" y="1020867"/>
            <a:ext cx="6631857" cy="2627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952976C5-F5CC-F683-E545-622E5A276B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5337" y="3982576"/>
            <a:ext cx="6671190" cy="2599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81803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3B9FC-68FD-B248-ADC0-ACC10B992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5BB30076-44F1-DC0D-7223-1A311531F7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6515" y="1102420"/>
            <a:ext cx="6666271" cy="2641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F26496DC-8248-7AD3-FADD-53B91EDDAF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6515" y="3930279"/>
            <a:ext cx="6666271" cy="2641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29475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Functional dashboard with top/worst performers</a:t>
            </a:r>
          </a:p>
          <a:p>
            <a:pPr>
              <a:defRPr sz="2000"/>
            </a:pPr>
            <a:r>
              <a:t>Market insights with performance indicators</a:t>
            </a:r>
          </a:p>
          <a:p>
            <a:pPr>
              <a:defRPr sz="2000"/>
            </a:pPr>
            <a:r>
              <a:t>Interactive visualizations for decision-making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C53B2-361F-95EA-43F6-B9B4C94B6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2EE4B1F-EC4C-94C5-1189-AB1741828516}"/>
              </a:ext>
            </a:extLst>
          </p:cNvPr>
          <p:cNvSpPr txBox="1"/>
          <p:nvPr/>
        </p:nvSpPr>
        <p:spPr>
          <a:xfrm>
            <a:off x="2349909" y="2661150"/>
            <a:ext cx="4585166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 b="1" dirty="0"/>
              <a:t>THANK YOU </a:t>
            </a:r>
            <a:endParaRPr lang="en-IN" sz="6600" b="1" dirty="0"/>
          </a:p>
        </p:txBody>
      </p:sp>
    </p:spTree>
    <p:extLst>
      <p:ext uri="{BB962C8B-B14F-4D97-AF65-F5344CB8AC3E}">
        <p14:creationId xmlns:p14="http://schemas.microsoft.com/office/powerpoint/2010/main" val="1271002255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35</TotalTime>
  <Words>228</Words>
  <Application>Microsoft Office PowerPoint</Application>
  <PresentationFormat>On-screen Show (4:3)</PresentationFormat>
  <Paragraphs>55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Century Gothic</vt:lpstr>
      <vt:lpstr>Vapor Trail</vt:lpstr>
      <vt:lpstr>Data-Driven Stock Analysis</vt:lpstr>
      <vt:lpstr>Skills</vt:lpstr>
      <vt:lpstr>Problem Statement</vt:lpstr>
      <vt:lpstr>Business Use Cases</vt:lpstr>
      <vt:lpstr>Approach</vt:lpstr>
      <vt:lpstr>Metrics</vt:lpstr>
      <vt:lpstr>Visualization</vt:lpstr>
      <vt:lpstr>Top 10 Most Volatile Stocks</vt:lpstr>
      <vt:lpstr>Cumulative Return</vt:lpstr>
      <vt:lpstr>Stock Price Correlation</vt:lpstr>
      <vt:lpstr>Sector-wise Performance</vt:lpstr>
      <vt:lpstr>Top 5 Gainers and Losers – Month-wise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Results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Dharshini A</cp:lastModifiedBy>
  <cp:revision>3</cp:revision>
  <dcterms:created xsi:type="dcterms:W3CDTF">2013-01-27T09:14:16Z</dcterms:created>
  <dcterms:modified xsi:type="dcterms:W3CDTF">2026-01-28T08:53:43Z</dcterms:modified>
  <cp:category/>
</cp:coreProperties>
</file>